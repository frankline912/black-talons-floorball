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51"/>
  </p:notesMasterIdLst>
  <p:sldIdLst>
    <p:sldId id="256" r:id="rId3"/>
    <p:sldId id="257" r:id="rId4"/>
    <p:sldId id="301" r:id="rId5"/>
    <p:sldId id="300" r:id="rId6"/>
    <p:sldId id="260" r:id="rId7"/>
    <p:sldId id="302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2" r:id="rId16"/>
    <p:sldId id="313" r:id="rId17"/>
    <p:sldId id="315" r:id="rId18"/>
    <p:sldId id="316" r:id="rId19"/>
    <p:sldId id="317" r:id="rId20"/>
    <p:sldId id="319" r:id="rId21"/>
    <p:sldId id="320" r:id="rId22"/>
    <p:sldId id="322" r:id="rId23"/>
    <p:sldId id="324" r:id="rId24"/>
    <p:sldId id="325" r:id="rId25"/>
    <p:sldId id="326" r:id="rId26"/>
    <p:sldId id="323" r:id="rId27"/>
    <p:sldId id="327" r:id="rId28"/>
    <p:sldId id="303" r:id="rId29"/>
    <p:sldId id="328" r:id="rId30"/>
    <p:sldId id="329" r:id="rId31"/>
    <p:sldId id="330" r:id="rId32"/>
    <p:sldId id="331" r:id="rId33"/>
    <p:sldId id="348" r:id="rId34"/>
    <p:sldId id="332" r:id="rId35"/>
    <p:sldId id="333" r:id="rId36"/>
    <p:sldId id="334" r:id="rId37"/>
    <p:sldId id="335" r:id="rId38"/>
    <p:sldId id="336" r:id="rId39"/>
    <p:sldId id="337" r:id="rId40"/>
    <p:sldId id="345" r:id="rId41"/>
    <p:sldId id="346" r:id="rId42"/>
    <p:sldId id="338" r:id="rId43"/>
    <p:sldId id="339" r:id="rId44"/>
    <p:sldId id="340" r:id="rId45"/>
    <p:sldId id="341" r:id="rId46"/>
    <p:sldId id="342" r:id="rId47"/>
    <p:sldId id="343" r:id="rId48"/>
    <p:sldId id="344" r:id="rId49"/>
    <p:sldId id="347" r:id="rId5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>
      <p:cViewPr varScale="1">
        <p:scale>
          <a:sx n="69" d="100"/>
          <a:sy n="69" d="100"/>
        </p:scale>
        <p:origin x="135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23909-638D-42DA-8129-8EAD82DF3B51}" type="datetimeFigureOut">
              <a:rPr lang="en-GB" smtClean="0"/>
              <a:t>25/05/2023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928C0-F6BC-4C65-82D8-B0F23642CB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76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928C0-F6BC-4C65-82D8-B0F23642CB9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814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928C0-F6BC-4C65-82D8-B0F23642CB9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256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928C0-F6BC-4C65-82D8-B0F23642CB9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852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hf hdr="0" ftr="0"/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-powerpoint-templates-design.com/free-powerpoint-templates-design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547664" y="2728943"/>
            <a:ext cx="3816424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THE HUMAN IN HCI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84" y="1340768"/>
            <a:ext cx="1301512" cy="3218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118" y="1129804"/>
            <a:ext cx="1505843" cy="7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22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rgbClr val="FF3300"/>
                </a:solidFill>
                <a:latin typeface="Arial"/>
                <a:cs typeface="Arial"/>
              </a:rPr>
              <a:t>Introduction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536504"/>
          </a:xfrm>
        </p:spPr>
        <p:txBody>
          <a:bodyPr/>
          <a:lstStyle/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HCI covers interaction between a human being and a computer.</a:t>
            </a:r>
          </a:p>
          <a:p>
            <a:pPr marL="355600" marR="508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sz="2800" dirty="0"/>
              <a:t>Humans are limited in their capacity to </a:t>
            </a:r>
          </a:p>
          <a:p>
            <a:pPr marL="12065" marR="508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dirty="0"/>
              <a:t>   process information. </a:t>
            </a:r>
          </a:p>
          <a:p>
            <a:pPr marL="355600" marR="508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sz="2800" dirty="0"/>
              <a:t>This has important implications for design</a:t>
            </a:r>
          </a:p>
          <a:p>
            <a:pPr marL="355600" marR="508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altLang="ko-KR" sz="2800" dirty="0">
                <a:latin typeface="Arial" pitchFamily="34" charset="0"/>
                <a:cs typeface="Arial" pitchFamily="34" charset="0"/>
              </a:rPr>
              <a:t>Human the user, whom computer systems are designed to assist</a:t>
            </a:r>
          </a:p>
          <a:p>
            <a:pPr marL="355600" marR="508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altLang="ko-KR" sz="2800" dirty="0">
                <a:latin typeface="Arial" pitchFamily="34" charset="0"/>
                <a:cs typeface="Arial" pitchFamily="34" charset="0"/>
              </a:rPr>
              <a:t>Understand the capabilities and limitations of the human</a:t>
            </a:r>
            <a:endParaRPr lang="ko-KR" altLang="en-US" sz="2800" dirty="0">
              <a:latin typeface="Arial" pitchFamily="34" charset="0"/>
              <a:cs typeface="Arial" pitchFamily="34" charset="0"/>
            </a:endParaRPr>
          </a:p>
          <a:p>
            <a:pPr marL="355600" marR="508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176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rgbClr val="FF3300"/>
                </a:solidFill>
                <a:latin typeface="Arial"/>
                <a:cs typeface="Arial"/>
              </a:rPr>
              <a:t>Cognitive psychology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536504"/>
          </a:xfrm>
        </p:spPr>
        <p:txBody>
          <a:bodyPr/>
          <a:lstStyle/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The study of how we think.</a:t>
            </a: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The study of attention, memory, language 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    processing, perception, problem solving, and 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    thinking.</a:t>
            </a: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The are areas relevant to HCI include how </a:t>
            </a: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humans perceive the world around them, store  and process information, solve problems and 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    how they physically manipulate objects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58260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Cognitive psychology….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57200" y="1086292"/>
            <a:ext cx="8229600" cy="47909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There are models of interaction that have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been developed.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In 1983, Card, Moran and Newell [56] described the </a:t>
            </a:r>
            <a:r>
              <a:rPr lang="en-GB" sz="2800" i="1" dirty="0"/>
              <a:t>Model Human Processor</a:t>
            </a:r>
            <a:r>
              <a:rPr lang="en-GB" sz="2800" dirty="0"/>
              <a:t> which is a simplified view of the human processing </a:t>
            </a:r>
          </a:p>
          <a:p>
            <a:r>
              <a:rPr lang="en-GB" sz="2800" dirty="0"/>
              <a:t>    involved in interacting with computer </a:t>
            </a:r>
          </a:p>
          <a:p>
            <a:r>
              <a:rPr lang="en-GB" sz="2800" dirty="0"/>
              <a:t>    systems.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8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Human Processor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619672" y="1069514"/>
            <a:ext cx="7077472" cy="4923175"/>
          </a:xfrm>
        </p:spPr>
        <p:txBody>
          <a:bodyPr/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Model comprises of three subsystems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Perception system: handling of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sensory stimulus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Motor system: controls our actions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Cognitive system: processing needed to connect perception and motor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systems </a:t>
            </a:r>
          </a:p>
          <a:p>
            <a:r>
              <a:rPr lang="en-GB" sz="2800" dirty="0"/>
              <a:t>Each of these subsystems has its own </a:t>
            </a:r>
          </a:p>
          <a:p>
            <a:r>
              <a:rPr lang="en-GB" sz="2800" dirty="0"/>
              <a:t>processor and memory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257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Human as an information processing system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536504"/>
          </a:xfrm>
        </p:spPr>
        <p:txBody>
          <a:bodyPr/>
          <a:lstStyle/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The three components will include 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input-output system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Memory 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Processing </a:t>
            </a: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Human is an intelligent information processing system. </a:t>
            </a: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Therefore includes problem solving, learning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    and making mistakes.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3760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Components of HIPS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536504"/>
          </a:xfrm>
        </p:spPr>
        <p:txBody>
          <a:bodyPr/>
          <a:lstStyle/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b="1" spc="-5" dirty="0">
                <a:solidFill>
                  <a:prstClr val="black"/>
                </a:solidFill>
                <a:latin typeface="Arial"/>
                <a:cs typeface="Arial"/>
              </a:rPr>
              <a:t>Input-output channels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Visual channel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Auditory channel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Haptic channel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movement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b="1" spc="-5" dirty="0">
                <a:solidFill>
                  <a:prstClr val="black"/>
                </a:solidFill>
                <a:latin typeface="Arial"/>
                <a:cs typeface="Arial"/>
              </a:rPr>
              <a:t>Memory 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Sensory memory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Short-term(working) memory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Long-term memory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04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Components of HIPS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536504"/>
          </a:xfrm>
        </p:spPr>
        <p:txBody>
          <a:bodyPr/>
          <a:lstStyle/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b="1" spc="-5" dirty="0">
                <a:solidFill>
                  <a:prstClr val="black"/>
                </a:solidFill>
                <a:latin typeface="Arial"/>
                <a:cs typeface="Arial"/>
              </a:rPr>
              <a:t>Processing 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Reasoning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Problem solving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Skill acquisition 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Error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b="1" spc="-5" dirty="0">
                <a:solidFill>
                  <a:prstClr val="black"/>
                </a:solidFill>
                <a:latin typeface="Arial"/>
                <a:cs typeface="Arial"/>
              </a:rPr>
              <a:t>Emotions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b="1" spc="-5" dirty="0">
                <a:solidFill>
                  <a:prstClr val="black"/>
                </a:solidFill>
                <a:latin typeface="Arial"/>
                <a:cs typeface="Arial"/>
              </a:rPr>
              <a:t>Individual differences </a:t>
            </a: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5674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Input-output channels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492317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 HCI the user provides the input while the computer provides the output and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vice versa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Input in humans is through senses and output is through motor controls of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effectors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senses are sight, hearing, touch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smell and taste.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Effectors are limbs, fingers, eyes, head, vocal system and body position.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7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552783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Human vision is a highly complex </a:t>
            </a:r>
          </a:p>
          <a:p>
            <a:r>
              <a:rPr lang="en-GB" sz="2800" dirty="0"/>
              <a:t>    activity with a range of physical and</a:t>
            </a:r>
          </a:p>
          <a:p>
            <a:r>
              <a:rPr lang="en-GB" sz="2800" dirty="0"/>
              <a:t>    perceptual limitations.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is the primary source of information for the average person.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There are two stages of visual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perception.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Physical reception of the stimulus from the outside world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Processing and interpretation of that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stimulus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502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Human eyes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492317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eye is a mechanism for receiving </a:t>
            </a:r>
          </a:p>
          <a:p>
            <a:r>
              <a:rPr lang="en-GB" sz="2800" dirty="0"/>
              <a:t>    light and transforming it into </a:t>
            </a:r>
          </a:p>
          <a:p>
            <a:r>
              <a:rPr lang="en-GB" sz="2800" dirty="0"/>
              <a:t>    electrical energy.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receptors in the eye transform it </a:t>
            </a:r>
          </a:p>
          <a:p>
            <a:r>
              <a:rPr lang="en-GB" sz="2800" dirty="0"/>
              <a:t>     into electrical signals which are </a:t>
            </a:r>
          </a:p>
          <a:p>
            <a:r>
              <a:rPr lang="en-GB" sz="2800" dirty="0"/>
              <a:t>     passed to the brain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Visual perception  perceives </a:t>
            </a:r>
          </a:p>
          <a:p>
            <a:pPr marL="514350" indent="-514350"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Size and depth</a:t>
            </a:r>
          </a:p>
          <a:p>
            <a:pPr marL="514350" indent="-514350"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Brightness</a:t>
            </a:r>
          </a:p>
          <a:p>
            <a:pPr marL="514350" indent="-514350"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Colour</a:t>
            </a:r>
          </a:p>
          <a:p>
            <a:pPr marL="514350" indent="-514350">
              <a:buAutoNum type="arabicPeriod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178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492317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There are stages in the reading </a:t>
            </a:r>
          </a:p>
          <a:p>
            <a:r>
              <a:rPr lang="en-GB" sz="2800" dirty="0"/>
              <a:t>    process.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visual pattern of the word on the  </a:t>
            </a:r>
          </a:p>
          <a:p>
            <a:r>
              <a:rPr lang="en-GB" sz="2800" dirty="0"/>
              <a:t>    page is perceived. </a:t>
            </a:r>
          </a:p>
          <a:p>
            <a:pPr marL="514350" indent="-514350">
              <a:buAutoNum type="arabicPeriod" startAt="2"/>
            </a:pPr>
            <a:r>
              <a:rPr lang="en-GB" sz="2800" dirty="0"/>
              <a:t>It is then decoded with reference to  an internal representation of </a:t>
            </a:r>
          </a:p>
          <a:p>
            <a:r>
              <a:rPr lang="en-GB" sz="2800" dirty="0"/>
              <a:t>    language</a:t>
            </a:r>
          </a:p>
          <a:p>
            <a:r>
              <a:rPr lang="en-GB" sz="2800" dirty="0"/>
              <a:t>3. Language processing includes syntactic    and semantic analysis and operate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076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Hearing 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536504"/>
          </a:xfrm>
        </p:spPr>
        <p:txBody>
          <a:bodyPr/>
          <a:lstStyle/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Auditory system can convey a lot of 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     information the environment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Hearing begins with sound waves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Part of the ear includes the outer, middle and 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     inner ear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Outer ear protects the middle ear and 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     maintains the temperature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Amplifies sound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4806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</a:br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Hearing processing</a:t>
            </a:r>
            <a:b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</a:br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536504"/>
          </a:xfrm>
        </p:spPr>
        <p:txBody>
          <a:bodyPr/>
          <a:lstStyle/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Process the pitch frequency of sound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Loudness is proportional to the amplitude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Timbre is the type of sound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Location of the sound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Sound is rarely used in HCI except in warning sounds or notifications.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It is used in multimedia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9730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Touch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536504"/>
          </a:xfrm>
        </p:spPr>
        <p:txBody>
          <a:bodyPr/>
          <a:lstStyle/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Haptic perception: provides information about the environment. E.g. hot or cold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Gives feedback when picking an object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Virtual reality shows how we behave if we are interacting with objects that we cannot touch.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It is very important for others who miss other 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    senses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Touch is not localized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Another aspect of haptic perception is </a:t>
            </a: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     </a:t>
            </a:r>
            <a:r>
              <a:rPr lang="en-GB" sz="2800" spc="-5" dirty="0" err="1">
                <a:solidFill>
                  <a:prstClr val="black"/>
                </a:solidFill>
                <a:latin typeface="Arial"/>
                <a:cs typeface="Arial"/>
              </a:rPr>
              <a:t>kinethesis</a:t>
            </a:r>
            <a:r>
              <a:rPr lang="en-GB" sz="28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682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Movement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89654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Kinesthesis: awareness of the position of the body and limbs. This is due to receptors in the joints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there are three types: rapidly adapting, which respond when a limb is moved in a particular direction;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slowly adapting, which respond to both movement and static position;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positional receptors, which only respond when a limb is in a static position.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1400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Movement-example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00800" cy="552783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stimulus (of the question) is </a:t>
            </a:r>
          </a:p>
          <a:p>
            <a:r>
              <a:rPr lang="en-GB" sz="2800" dirty="0"/>
              <a:t>    received through the sensory </a:t>
            </a:r>
          </a:p>
          <a:p>
            <a:r>
              <a:rPr lang="en-GB" sz="2800" dirty="0"/>
              <a:t>    receptors and transmitted to the </a:t>
            </a:r>
          </a:p>
          <a:p>
            <a:r>
              <a:rPr lang="en-GB" sz="2800" dirty="0"/>
              <a:t>    brain.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question is processed and a valid response generated.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brain then tells the appropriate </a:t>
            </a:r>
          </a:p>
          <a:p>
            <a:r>
              <a:rPr lang="en-GB" sz="2800" dirty="0"/>
              <a:t>    muscles to respond.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Each of these stages takes time, which can be roughly divided into reaction </a:t>
            </a:r>
          </a:p>
          <a:p>
            <a:r>
              <a:rPr lang="en-GB" sz="2800" dirty="0"/>
              <a:t>    time and movement time.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123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Movement and reaction time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52398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Movement time is dependent on the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subject. E.g. age, fitness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Reaction time depends on the sensory channel that the stimulus is received.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Factors like skill and practice can   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reduce reaction time while fatigue can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reduce it.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Accuracy depends on user and the task at hand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572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Movement and reaction time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52398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time taken to hit a target is a </a:t>
            </a:r>
          </a:p>
          <a:p>
            <a:r>
              <a:rPr lang="en-GB" sz="2800" dirty="0"/>
              <a:t>    function of the size of the target and</a:t>
            </a:r>
          </a:p>
          <a:p>
            <a:r>
              <a:rPr lang="en-GB" sz="2800" dirty="0"/>
              <a:t>    the distance that has to be moved.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This is formalized in </a:t>
            </a:r>
            <a:r>
              <a:rPr lang="en-GB" sz="2800" i="1" dirty="0" err="1"/>
              <a:t>Fitts</a:t>
            </a:r>
            <a:r>
              <a:rPr lang="en-GB" sz="2800" i="1" dirty="0"/>
              <a:t>’ law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Movement time = </a:t>
            </a:r>
            <a:r>
              <a:rPr lang="en-GB" sz="2800" i="1" dirty="0"/>
              <a:t>a </a:t>
            </a:r>
            <a:r>
              <a:rPr lang="en-GB" sz="2800" dirty="0"/>
              <a:t>+ </a:t>
            </a:r>
            <a:r>
              <a:rPr lang="en-GB" sz="2800" i="1" dirty="0"/>
              <a:t>b </a:t>
            </a:r>
            <a:r>
              <a:rPr lang="en-GB" sz="2800" dirty="0"/>
              <a:t>log2(distance/size + 1)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Where a and b are empirical constants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871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Human memory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89654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We rely on memory for our daily activities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stores factual knowledge, knowledge of </a:t>
            </a:r>
          </a:p>
          <a:p>
            <a:r>
              <a:rPr lang="en-GB" sz="2800" dirty="0"/>
              <a:t>    actions and procedures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882250"/>
            <a:ext cx="7056784" cy="24189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57BB1A-F54F-9B57-55BD-7492B4938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852936"/>
            <a:ext cx="7056784" cy="241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52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Human memory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896544"/>
          </a:xfrm>
        </p:spPr>
        <p:txBody>
          <a:bodyPr/>
          <a:lstStyle/>
          <a:p>
            <a:r>
              <a:rPr lang="en-GB" sz="2800" dirty="0"/>
              <a:t>It allows us to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repeat actions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Use language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Use information from the senses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Sense of identity from past experiences</a:t>
            </a:r>
          </a:p>
          <a:p>
            <a:r>
              <a:rPr lang="en-GB" sz="2800" dirty="0"/>
              <a:t>There are three types of memory</a:t>
            </a:r>
          </a:p>
          <a:p>
            <a:pPr marL="514350" indent="-514350">
              <a:buAutoNum type="arabicPeriod"/>
            </a:pPr>
            <a:r>
              <a:rPr lang="en-GB" sz="2800" dirty="0"/>
              <a:t>Sensory buffers</a:t>
            </a:r>
          </a:p>
          <a:p>
            <a:pPr marL="514350" indent="-514350">
              <a:buAutoNum type="arabicPeriod"/>
            </a:pPr>
            <a:r>
              <a:rPr lang="en-GB" sz="2800" dirty="0"/>
              <a:t>Short-term (working) memory</a:t>
            </a:r>
          </a:p>
          <a:p>
            <a:pPr marL="514350" indent="-514350">
              <a:buAutoNum type="arabicPeriod"/>
            </a:pPr>
            <a:r>
              <a:rPr lang="en-GB" sz="2800" dirty="0"/>
              <a:t>Long-term memory</a:t>
            </a:r>
          </a:p>
          <a:p>
            <a:pPr marL="514350" indent="-514350">
              <a:buAutoNum type="arabicPeriod"/>
            </a:pPr>
            <a:endParaRPr lang="en-GB" sz="2800" dirty="0"/>
          </a:p>
          <a:p>
            <a:pPr marL="514350" indent="-514350">
              <a:buAutoNum type="arabicPeriod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91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Sensory memory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89654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is the buffer for stimuli received through </a:t>
            </a:r>
          </a:p>
          <a:p>
            <a:r>
              <a:rPr lang="en-GB" sz="2800" dirty="0"/>
              <a:t>    the senses. It exists for each sensory </a:t>
            </a:r>
          </a:p>
          <a:p>
            <a:r>
              <a:rPr lang="en-GB" sz="2800" dirty="0"/>
              <a:t>    channel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Iconic: visual stimulus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Echoic: aural stimulus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Haptic: touch stimulus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Sensory transforms to short term storage by attention. Mind concentration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514350" indent="-514350">
              <a:buAutoNum type="arabicPeriod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7036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Sensory memory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89654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We have limited capacity of sensory and </a:t>
            </a:r>
          </a:p>
          <a:p>
            <a:r>
              <a:rPr lang="en-GB" sz="2800" dirty="0"/>
              <a:t>    mental processes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We choose which stimuli to attend 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Our level on interest and need will </a:t>
            </a:r>
          </a:p>
          <a:p>
            <a:r>
              <a:rPr lang="en-GB" sz="2800" dirty="0"/>
              <a:t>    determine the extent of our arousal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514350" indent="-514350">
              <a:buAutoNum type="arabicPeriod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1408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ko-KR" dirty="0">
                <a:solidFill>
                  <a:srgbClr val="FF3300"/>
                </a:solidFill>
                <a:latin typeface="Arial"/>
                <a:cs typeface="Arial"/>
              </a:rPr>
              <a:t>Short-term memory</a:t>
            </a:r>
            <a:endParaRPr lang="ko-KR" alt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467544" y="1340768"/>
            <a:ext cx="8229600" cy="489654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is the scratch pad of temporary recall it </a:t>
            </a:r>
          </a:p>
          <a:p>
            <a:r>
              <a:rPr lang="en-GB" sz="2800" dirty="0"/>
              <a:t>    takes 70ms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decays rapidly 200ms.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has limited capacity.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There are two methods of measurement </a:t>
            </a:r>
          </a:p>
          <a:p>
            <a:r>
              <a:rPr lang="en-GB" sz="2800" dirty="0"/>
              <a:t>    memory capacity;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Length of a sequence which must be </a:t>
            </a:r>
          </a:p>
          <a:p>
            <a:r>
              <a:rPr lang="en-GB" sz="2800" dirty="0"/>
              <a:t>    remembered in order</a:t>
            </a:r>
          </a:p>
          <a:p>
            <a:r>
              <a:rPr lang="en-GB" sz="2800" dirty="0"/>
              <a:t>2. Recall items in any order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514350" indent="-514350">
              <a:buAutoNum type="arabicPeriod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469265" marR="5080" lvl="0" indent="-457200">
              <a:spcBef>
                <a:spcPts val="95"/>
              </a:spcBef>
              <a:buClr>
                <a:srgbClr val="FF9966"/>
              </a:buClr>
              <a:buSzPct val="50000"/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526415" marR="5080" lvl="0" indent="-514350">
              <a:spcBef>
                <a:spcPts val="95"/>
              </a:spcBef>
              <a:buClr>
                <a:srgbClr val="FF9966"/>
              </a:buClr>
              <a:buSzPct val="50000"/>
              <a:buFont typeface="+mj-lt"/>
              <a:buAutoNum type="arabicPeriod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065" marR="5080" lvl="0">
              <a:spcBef>
                <a:spcPts val="95"/>
              </a:spcBef>
              <a:buClr>
                <a:srgbClr val="FF9966"/>
              </a:buClr>
              <a:buSzPct val="50000"/>
              <a:tabLst>
                <a:tab pos="355600" algn="l"/>
                <a:tab pos="356235" algn="l"/>
              </a:tabLst>
            </a:pPr>
            <a:endParaRPr lang="en-GB" sz="2800" dirty="0"/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  <a:p>
            <a:pPr marL="355600" marR="5080" lvl="0" indent="-343535">
              <a:spcBef>
                <a:spcPts val="95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355600" algn="l"/>
                <a:tab pos="356235" algn="l"/>
              </a:tabLst>
            </a:pPr>
            <a:endParaRPr lang="en-GB" sz="2800" spc="-5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047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67544" y="1268760"/>
            <a:ext cx="8229600" cy="4608512"/>
          </a:xfrm>
        </p:spPr>
        <p:txBody>
          <a:bodyPr/>
          <a:lstStyle/>
          <a:p>
            <a:r>
              <a:rPr lang="en-GB" dirty="0"/>
              <a:t> </a:t>
            </a:r>
          </a:p>
          <a:p>
            <a:r>
              <a:rPr lang="en-GB" sz="3200" b="1" dirty="0"/>
              <a:t>265397620863</a:t>
            </a:r>
          </a:p>
          <a:p>
            <a:r>
              <a:rPr lang="en-GB" sz="3200" b="1" dirty="0"/>
              <a:t>44 113 245 8920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Chunks work best. Formation of a </a:t>
            </a:r>
          </a:p>
          <a:p>
            <a:r>
              <a:rPr lang="en-GB" sz="3200" dirty="0"/>
              <a:t>   chunk is called closure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Chunks use pattern abstraction.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We recall last words than middle </a:t>
            </a:r>
          </a:p>
          <a:p>
            <a:r>
              <a:rPr lang="en-GB" sz="3200" dirty="0"/>
              <a:t>   words. Known as </a:t>
            </a:r>
            <a:r>
              <a:rPr lang="en-GB" sz="3200" dirty="0" err="1"/>
              <a:t>recency</a:t>
            </a:r>
            <a:r>
              <a:rPr lang="en-GB" sz="3200" dirty="0"/>
              <a:t> effect.</a:t>
            </a:r>
          </a:p>
          <a:p>
            <a:r>
              <a:rPr lang="en-GB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0259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67544" y="1268760"/>
            <a:ext cx="8229600" cy="4608512"/>
          </a:xfrm>
        </p:spPr>
        <p:txBody>
          <a:bodyPr/>
          <a:lstStyle/>
          <a:p>
            <a:r>
              <a:rPr lang="en-GB" dirty="0"/>
              <a:t> </a:t>
            </a:r>
          </a:p>
          <a:p>
            <a:r>
              <a:rPr lang="en-GB" sz="3200" dirty="0"/>
              <a:t>If asked to perform another task between presentation and recall the RE is </a:t>
            </a:r>
          </a:p>
          <a:p>
            <a:r>
              <a:rPr lang="en-GB" sz="3200" dirty="0"/>
              <a:t>eliminated.</a:t>
            </a:r>
          </a:p>
          <a:p>
            <a:r>
              <a:rPr lang="en-GB" sz="3200" dirty="0"/>
              <a:t>Short term is destroyed by interference </a:t>
            </a:r>
          </a:p>
          <a:p>
            <a:r>
              <a:rPr lang="en-GB" sz="3200" dirty="0"/>
              <a:t>of other information.</a:t>
            </a:r>
          </a:p>
          <a:p>
            <a:r>
              <a:rPr lang="en-GB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8847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Long-term memory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67544" y="1086292"/>
            <a:ext cx="8229600" cy="47909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stores factual information, experiential </a:t>
            </a:r>
          </a:p>
          <a:p>
            <a:r>
              <a:rPr lang="en-GB" sz="2800" dirty="0"/>
              <a:t>    knowledge and procedural rules of </a:t>
            </a:r>
          </a:p>
          <a:p>
            <a:r>
              <a:rPr lang="en-GB" sz="2800" dirty="0"/>
              <a:t>    behaviour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differs from short-term memory by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It has huge unlimited capacity.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Access is slow at 1s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Forgetting occurs slowly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9629747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Long-term memory structure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52398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There are two types of long-term memory: </a:t>
            </a:r>
            <a:r>
              <a:rPr lang="en-GB" sz="2800" i="1" dirty="0"/>
              <a:t>episodic memory </a:t>
            </a:r>
            <a:r>
              <a:rPr lang="en-GB" sz="2800" dirty="0"/>
              <a:t>and </a:t>
            </a:r>
            <a:r>
              <a:rPr lang="en-GB" sz="2800" i="1" dirty="0"/>
              <a:t>semantic memory</a:t>
            </a:r>
            <a:r>
              <a:rPr lang="en-GB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Episodic memory represents our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memory of events and experiences in a serial 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Semantic memory, is a structured </a:t>
            </a:r>
          </a:p>
          <a:p>
            <a:r>
              <a:rPr lang="en-GB" sz="2800" dirty="0"/>
              <a:t>    record of facts, concepts and skills </a:t>
            </a:r>
          </a:p>
          <a:p>
            <a:r>
              <a:rPr lang="en-GB" sz="2800" dirty="0"/>
              <a:t>    that we have acquired.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We store information in a semantic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network</a:t>
            </a:r>
          </a:p>
        </p:txBody>
      </p:sp>
    </p:spTree>
    <p:extLst>
      <p:ext uri="{BB962C8B-B14F-4D97-AF65-F5344CB8AC3E}">
        <p14:creationId xmlns:p14="http://schemas.microsoft.com/office/powerpoint/2010/main" val="1567084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Long-term memory processes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52398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There are three main processes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storage or remembering of </a:t>
            </a:r>
          </a:p>
          <a:p>
            <a:r>
              <a:rPr lang="en-GB" sz="2800" dirty="0"/>
              <a:t>    information, </a:t>
            </a:r>
          </a:p>
          <a:p>
            <a:r>
              <a:rPr lang="en-GB" sz="2800" dirty="0"/>
              <a:t>2. forgetting </a:t>
            </a:r>
          </a:p>
          <a:p>
            <a:r>
              <a:rPr lang="en-GB" sz="2800" dirty="0"/>
              <a:t>3. information retrieval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Information in short-term memory is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stored in long-term memory by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rehearsal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amount learned is directly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 proportional to time spent learning. </a:t>
            </a:r>
          </a:p>
        </p:txBody>
      </p:sp>
    </p:spTree>
    <p:extLst>
      <p:ext uri="{BB962C8B-B14F-4D97-AF65-F5344CB8AC3E}">
        <p14:creationId xmlns:p14="http://schemas.microsoft.com/office/powerpoint/2010/main" val="1186081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Long-term memory processes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523980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This is known as total time hypothesis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Learning is effective if distributed over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GB" sz="2800" dirty="0"/>
              <a:t>is known as the </a:t>
            </a:r>
            <a:r>
              <a:rPr lang="en-GB" sz="2800" i="1" dirty="0"/>
              <a:t>distribution</a:t>
            </a:r>
          </a:p>
          <a:p>
            <a:r>
              <a:rPr lang="en-GB" sz="2800" i="1" dirty="0"/>
              <a:t>    of practice effect</a:t>
            </a:r>
            <a:r>
              <a:rPr lang="en-GB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Information being learned should be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meaningful and familiar. Sentences are easier to remember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We forget by decay and interference.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There are two theories;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980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Long-term memory processes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545583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We forget rapidly at first and then more slowly (</a:t>
            </a:r>
            <a:r>
              <a:rPr lang="en-GB" sz="2800" dirty="0" err="1"/>
              <a:t>Ebbinghaus</a:t>
            </a:r>
            <a:r>
              <a:rPr lang="en-GB" sz="2800" dirty="0"/>
              <a:t>). </a:t>
            </a:r>
            <a:r>
              <a:rPr lang="en-GB" sz="2800" i="1" dirty="0" err="1"/>
              <a:t>Jost’s</a:t>
            </a:r>
            <a:r>
              <a:rPr lang="en-GB" sz="2800" i="1" dirty="0"/>
              <a:t> law</a:t>
            </a:r>
            <a:r>
              <a:rPr lang="en-GB" sz="2800" dirty="0"/>
              <a:t>, states that if two memory </a:t>
            </a:r>
          </a:p>
          <a:p>
            <a:r>
              <a:rPr lang="en-GB" sz="2800" dirty="0"/>
              <a:t>   traces are equally strong at a given</a:t>
            </a:r>
          </a:p>
          <a:p>
            <a:r>
              <a:rPr lang="en-GB" sz="2800" dirty="0"/>
              <a:t>   time the older one will be more </a:t>
            </a:r>
          </a:p>
          <a:p>
            <a:r>
              <a:rPr lang="en-GB" sz="2800" dirty="0"/>
              <a:t>   durable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2. New information leads to loss of old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information. There is retroactive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interference and proactive interference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Forgetting is affected by emotional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factors. We remember positive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752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881E4-418C-422A-685A-E3FC3FA7D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Interference 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9F4BD-0CDD-5878-611B-1346DF90CCF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63688" y="1928654"/>
            <a:ext cx="6933456" cy="4064035"/>
          </a:xfrm>
        </p:spPr>
        <p:txBody>
          <a:bodyPr/>
          <a:lstStyle/>
          <a:p>
            <a:r>
              <a:rPr lang="en-GB" sz="2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kumimoji="0" lang="en-GB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roactive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interference: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ability to learn </a:t>
            </a:r>
          </a:p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new information is distorted by old </a:t>
            </a:r>
          </a:p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information that has been learned.</a:t>
            </a:r>
          </a:p>
          <a:p>
            <a:endParaRPr lang="en-US" sz="28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Retroactive interference: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happens when the new information interferes with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ability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 remember old information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44930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 we really forget?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545583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Is it that information is just difficult to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access. There is evidence to support the argument that we do not forget from long term memory because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Proactive inhibition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Tip of the tongue experience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Information prompted or recognized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182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Information retrieval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545583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There are two types of information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retrieval. Recall and recognition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recall is reproduced from memory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Recognition is presentation of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information that provides knowledge that the information is seen before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Recognition requires less cognitive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activity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To recall better use categories and vivid imagery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394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0"/>
            <a:ext cx="7956376" cy="1069514"/>
          </a:xfrm>
        </p:spPr>
        <p:txBody>
          <a:bodyPr/>
          <a:lstStyle/>
          <a:p>
            <a:r>
              <a:rPr lang="en-GB" dirty="0"/>
              <a:t>Reasoning and problem solving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75656" y="1069514"/>
            <a:ext cx="7221488" cy="545583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Human beings can use information to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reason and solve problems with partial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or unavailable information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Human thought is conscious and self aware. We cannot identify the process we use to solve problems but can we can identify the products of the process;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thoughts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We are able solve problems for which we have no prior to experience or </a:t>
            </a:r>
          </a:p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    never seen before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91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Reasoning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67544" y="1086292"/>
            <a:ext cx="8229600" cy="47909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is the process by which we use knowledge to have draw a conclusion or infer </a:t>
            </a:r>
          </a:p>
          <a:p>
            <a:r>
              <a:rPr lang="en-GB" sz="2800" dirty="0"/>
              <a:t>    something about the domain of interest.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There are three types of reasoning;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Deductive reasoning: making a logical </a:t>
            </a:r>
          </a:p>
          <a:p>
            <a:r>
              <a:rPr lang="en-GB" sz="2800" dirty="0"/>
              <a:t>    conclusion based on facts given.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GB" sz="2800" dirty="0"/>
              <a:t>Inductive; generalizing from cases we have </a:t>
            </a:r>
          </a:p>
          <a:p>
            <a:r>
              <a:rPr lang="en-GB" sz="2800" dirty="0"/>
              <a:t>     seen to infer information about the cases</a:t>
            </a:r>
          </a:p>
          <a:p>
            <a:r>
              <a:rPr lang="en-GB" sz="2800" dirty="0"/>
              <a:t>     we have not seen.</a:t>
            </a:r>
          </a:p>
          <a:p>
            <a:pPr marL="514350" indent="-514350">
              <a:buFont typeface="+mj-lt"/>
              <a:buAutoNum type="arabicPeriod" startAt="2"/>
            </a:pPr>
            <a:endParaRPr lang="en-GB" sz="2800" dirty="0"/>
          </a:p>
          <a:p>
            <a:pPr marL="514350" indent="-514350">
              <a:buFont typeface="+mj-lt"/>
              <a:buAutoNum type="arabicPeriod" startAt="2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4169558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56" y="0"/>
            <a:ext cx="7668344" cy="1069514"/>
          </a:xfrm>
        </p:spPr>
        <p:txBody>
          <a:bodyPr/>
          <a:lstStyle/>
          <a:p>
            <a:r>
              <a:rPr lang="en-GB" dirty="0"/>
              <a:t>Reasoning…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03648" y="1069514"/>
            <a:ext cx="7632848" cy="49231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Abductive : reasons from fact to the action or </a:t>
            </a:r>
          </a:p>
          <a:p>
            <a:r>
              <a:rPr lang="en-GB" sz="2400" dirty="0"/>
              <a:t>   state that caused it. We hold on to the theory.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571477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6778"/>
            <a:ext cx="8892480" cy="1069514"/>
          </a:xfrm>
        </p:spPr>
        <p:txBody>
          <a:bodyPr/>
          <a:lstStyle/>
          <a:p>
            <a:r>
              <a:rPr lang="en-GB" dirty="0"/>
              <a:t>Problem solving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67544" y="1086292"/>
            <a:ext cx="8229600" cy="47909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is finding a solution to an unfamiliar task using the knowledge we have. We adapt the information to the situation.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Gestalt view: reuse of knowledge and </a:t>
            </a:r>
          </a:p>
          <a:p>
            <a:r>
              <a:rPr lang="en-GB" sz="2800" dirty="0"/>
              <a:t>    insight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Newell and Simon propose the problem </a:t>
            </a:r>
          </a:p>
          <a:p>
            <a:r>
              <a:rPr lang="en-GB" sz="2800" dirty="0"/>
              <a:t>   space theory. The mind is an unlimited </a:t>
            </a:r>
          </a:p>
          <a:p>
            <a:r>
              <a:rPr lang="en-GB" sz="2800" dirty="0"/>
              <a:t>   information processor.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03891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6778"/>
            <a:ext cx="9036496" cy="1069514"/>
          </a:xfrm>
        </p:spPr>
        <p:txBody>
          <a:bodyPr/>
          <a:lstStyle/>
          <a:p>
            <a:r>
              <a:rPr lang="en-GB" dirty="0"/>
              <a:t>Gestalt theory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07504" y="1086292"/>
            <a:ext cx="8589640" cy="529503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Problem solving is both </a:t>
            </a:r>
            <a:r>
              <a:rPr lang="en-GB" sz="2800" i="1" dirty="0"/>
              <a:t>productive</a:t>
            </a:r>
          </a:p>
          <a:p>
            <a:r>
              <a:rPr lang="en-GB" sz="2800" dirty="0"/>
              <a:t>    and </a:t>
            </a:r>
            <a:r>
              <a:rPr lang="en-GB" sz="2800" i="1" dirty="0"/>
              <a:t>reproductive</a:t>
            </a:r>
            <a:r>
              <a:rPr lang="en-GB" sz="28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Reproductive problem solving draws on </a:t>
            </a:r>
          </a:p>
          <a:p>
            <a:r>
              <a:rPr lang="en-GB" sz="2800" dirty="0"/>
              <a:t>    previous experience as the behaviourists </a:t>
            </a:r>
          </a:p>
          <a:p>
            <a:r>
              <a:rPr lang="en-GB" sz="2800" dirty="0"/>
              <a:t>    claimed.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Productive problem solving involves insight </a:t>
            </a:r>
          </a:p>
          <a:p>
            <a:r>
              <a:rPr lang="en-GB" sz="2800" dirty="0"/>
              <a:t>    and restructuring of the problem.</a:t>
            </a:r>
          </a:p>
        </p:txBody>
      </p:sp>
    </p:spTree>
    <p:extLst>
      <p:ext uri="{BB962C8B-B14F-4D97-AF65-F5344CB8AC3E}">
        <p14:creationId xmlns:p14="http://schemas.microsoft.com/office/powerpoint/2010/main" val="3139895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space theory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67544" y="1196752"/>
            <a:ext cx="8229600" cy="468052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Newell and Simon proposed that problem </a:t>
            </a:r>
          </a:p>
          <a:p>
            <a:r>
              <a:rPr lang="en-GB" sz="2800" dirty="0"/>
              <a:t>    solving centres on the problem space.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problem space comprises </a:t>
            </a:r>
            <a:r>
              <a:rPr lang="en-GB" sz="2800" i="1" dirty="0"/>
              <a:t>problem </a:t>
            </a:r>
          </a:p>
          <a:p>
            <a:r>
              <a:rPr lang="en-GB" sz="2800" i="1" dirty="0"/>
              <a:t>    states</a:t>
            </a:r>
            <a:r>
              <a:rPr lang="en-GB" sz="2800" dirty="0"/>
              <a:t>, and problem solving involves </a:t>
            </a:r>
          </a:p>
          <a:p>
            <a:r>
              <a:rPr lang="en-GB" sz="2800" dirty="0"/>
              <a:t>    generating these states using legal state </a:t>
            </a:r>
          </a:p>
          <a:p>
            <a:r>
              <a:rPr lang="en-GB" sz="2800" dirty="0"/>
              <a:t>    transition operators.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problem has an initial state and a goal </a:t>
            </a:r>
          </a:p>
          <a:p>
            <a:r>
              <a:rPr lang="en-GB" sz="2800" dirty="0"/>
              <a:t>    state and people use the operators to move </a:t>
            </a:r>
          </a:p>
          <a:p>
            <a:r>
              <a:rPr lang="en-GB" sz="2800" dirty="0"/>
              <a:t>    from the former to the latter.</a:t>
            </a:r>
          </a:p>
        </p:txBody>
      </p:sp>
    </p:spTree>
    <p:extLst>
      <p:ext uri="{BB962C8B-B14F-4D97-AF65-F5344CB8AC3E}">
        <p14:creationId xmlns:p14="http://schemas.microsoft.com/office/powerpoint/2010/main" val="8895130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56" y="0"/>
            <a:ext cx="7668344" cy="1069514"/>
          </a:xfrm>
        </p:spPr>
        <p:txBody>
          <a:bodyPr/>
          <a:lstStyle/>
          <a:p>
            <a:r>
              <a:rPr lang="en-GB" dirty="0"/>
              <a:t>Analogy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03648" y="1069514"/>
            <a:ext cx="7632848" cy="49231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It is the third element in problem solving. It is </a:t>
            </a:r>
          </a:p>
          <a:p>
            <a:r>
              <a:rPr lang="en-GB" sz="2400" dirty="0"/>
              <a:t>   interested in how people solve novel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People solve novel problems by using analogical mapping. That is mapping knowledge relating </a:t>
            </a:r>
          </a:p>
          <a:p>
            <a:r>
              <a:rPr lang="en-GB" sz="2400" dirty="0"/>
              <a:t>   to similar known domain to a new problem.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Reminiscent of Gestalts view where old</a:t>
            </a:r>
          </a:p>
          <a:p>
            <a:r>
              <a:rPr lang="en-GB" sz="2400" dirty="0"/>
              <a:t>   knowledge is applied to solve a new problem.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6436693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6778"/>
            <a:ext cx="8892480" cy="1069514"/>
          </a:xfrm>
        </p:spPr>
        <p:txBody>
          <a:bodyPr/>
          <a:lstStyle/>
          <a:p>
            <a:r>
              <a:rPr lang="en-GB" dirty="0"/>
              <a:t>Skill acquisition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67544" y="1086292"/>
            <a:ext cx="8229600" cy="479098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Acquire skills in a domain area . There are </a:t>
            </a:r>
          </a:p>
          <a:p>
            <a:r>
              <a:rPr lang="en-GB" sz="2800" dirty="0"/>
              <a:t>    novices and experts in a domain area.</a:t>
            </a:r>
          </a:p>
          <a:p>
            <a:r>
              <a:rPr lang="en-GB" sz="2800" dirty="0"/>
              <a:t>Anderson ACT model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Use general purpose rules. Slow and </a:t>
            </a:r>
          </a:p>
          <a:p>
            <a:r>
              <a:rPr lang="en-GB" sz="2800" dirty="0"/>
              <a:t>    demanding memory access.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GB" sz="2800" dirty="0"/>
              <a:t>Learner develops rules specific to a task.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GB" sz="2800" dirty="0"/>
              <a:t>Rules are formed to speed up a process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1 to 2  applies </a:t>
            </a:r>
            <a:r>
              <a:rPr lang="en-GB" sz="2800" dirty="0" err="1"/>
              <a:t>procedurization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2 to 3 applies 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15645841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56" y="0"/>
            <a:ext cx="7668344" cy="1069514"/>
          </a:xfrm>
        </p:spPr>
        <p:txBody>
          <a:bodyPr/>
          <a:lstStyle/>
          <a:p>
            <a:r>
              <a:rPr lang="en-GB" dirty="0"/>
              <a:t>Errors and mental models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03648" y="1069514"/>
            <a:ext cx="7632848" cy="49231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Errors can be trivial, serious or catastrophic. </a:t>
            </a:r>
          </a:p>
          <a:p>
            <a:r>
              <a:rPr lang="en-GB" sz="2400" dirty="0"/>
              <a:t>   Errors occur when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We have automatic patterns of behaviour. </a:t>
            </a:r>
          </a:p>
          <a:p>
            <a:r>
              <a:rPr lang="en-GB" sz="2400" dirty="0"/>
              <a:t>    Changing an aspect of it can cause an error.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GB" sz="2400" dirty="0"/>
              <a:t>Incorrect understanding . Superstition. How we think, the dangers of ignoring conventions.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198284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6778"/>
            <a:ext cx="8892480" cy="1069514"/>
          </a:xfrm>
        </p:spPr>
        <p:txBody>
          <a:bodyPr/>
          <a:lstStyle/>
          <a:p>
            <a:r>
              <a:rPr lang="en-GB" dirty="0"/>
              <a:t>Emotion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67544" y="1086292"/>
            <a:ext cx="8229600" cy="55110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Emotional response affects how we perform.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When our emotions are positive we are </a:t>
            </a:r>
          </a:p>
          <a:p>
            <a:r>
              <a:rPr lang="en-GB" sz="2800" dirty="0"/>
              <a:t>    more creative. When they are negative we </a:t>
            </a:r>
          </a:p>
          <a:p>
            <a:r>
              <a:rPr lang="en-GB" sz="2800" dirty="0"/>
              <a:t>    have narrow focused thinking.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James Lange theory: emotion is the </a:t>
            </a:r>
          </a:p>
          <a:p>
            <a:r>
              <a:rPr lang="en-GB" sz="2800" dirty="0"/>
              <a:t>    interpretation of physiological responses.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Cannon: emotional response is more than </a:t>
            </a:r>
          </a:p>
          <a:p>
            <a:r>
              <a:rPr lang="en-GB" sz="2800" dirty="0"/>
              <a:t>    recognition of physiological changes.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 err="1"/>
              <a:t>Schachter</a:t>
            </a:r>
            <a:r>
              <a:rPr lang="en-GB" sz="2800" dirty="0"/>
              <a:t> and Singer; emotion results from a person evaluating physical responses in </a:t>
            </a:r>
          </a:p>
          <a:p>
            <a:r>
              <a:rPr lang="en-GB" sz="2800" dirty="0"/>
              <a:t>   light of the whole situation.</a:t>
            </a:r>
          </a:p>
        </p:txBody>
      </p:sp>
    </p:spTree>
    <p:extLst>
      <p:ext uri="{BB962C8B-B14F-4D97-AF65-F5344CB8AC3E}">
        <p14:creationId xmlns:p14="http://schemas.microsoft.com/office/powerpoint/2010/main" val="13340369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5656" y="0"/>
            <a:ext cx="7668344" cy="1069514"/>
          </a:xfrm>
        </p:spPr>
        <p:txBody>
          <a:bodyPr/>
          <a:lstStyle/>
          <a:p>
            <a:r>
              <a:rPr lang="en-GB" dirty="0"/>
              <a:t>Emotion…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1403648" y="1069514"/>
            <a:ext cx="7632848" cy="49231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Emotion to both physical and cognitive events.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Our body responds biologically to an external </a:t>
            </a:r>
          </a:p>
          <a:p>
            <a:r>
              <a:rPr lang="en-GB" sz="2400" dirty="0"/>
              <a:t>   stimulus and we interpret that in some way as </a:t>
            </a:r>
          </a:p>
          <a:p>
            <a:r>
              <a:rPr lang="en-GB" sz="2400" dirty="0"/>
              <a:t>   a particular emotion.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The biological response known as affect </a:t>
            </a:r>
          </a:p>
          <a:p>
            <a:r>
              <a:rPr lang="en-GB" sz="2400" dirty="0"/>
              <a:t>   changes the way we deal with different </a:t>
            </a:r>
          </a:p>
          <a:p>
            <a:r>
              <a:rPr lang="en-GB" sz="2400" dirty="0"/>
              <a:t>   situations.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Negative affect can make it harder to do even </a:t>
            </a:r>
          </a:p>
          <a:p>
            <a:r>
              <a:rPr lang="en-GB" sz="2400" dirty="0"/>
              <a:t>   easy tasks; positive affect can make it easier to </a:t>
            </a:r>
          </a:p>
          <a:p>
            <a:r>
              <a:rPr lang="en-GB" sz="2400" dirty="0"/>
              <a:t>   do difficult tasks.</a:t>
            </a:r>
          </a:p>
        </p:txBody>
      </p:sp>
    </p:spTree>
    <p:extLst>
      <p:ext uri="{BB962C8B-B14F-4D97-AF65-F5344CB8AC3E}">
        <p14:creationId xmlns:p14="http://schemas.microsoft.com/office/powerpoint/2010/main" val="31963183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6778"/>
            <a:ext cx="8892480" cy="1069514"/>
          </a:xfrm>
        </p:spPr>
        <p:txBody>
          <a:bodyPr/>
          <a:lstStyle/>
          <a:p>
            <a:r>
              <a:rPr lang="en-GB" dirty="0"/>
              <a:t>Individual differences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67544" y="1086292"/>
            <a:ext cx="8229600" cy="55110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We should be aware of individual </a:t>
            </a:r>
          </a:p>
          <a:p>
            <a:r>
              <a:rPr lang="en-GB" sz="2800" dirty="0"/>
              <a:t>    differences as far as possible in our designs.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Long term differences such as sex, physical </a:t>
            </a:r>
          </a:p>
          <a:p>
            <a:r>
              <a:rPr lang="en-GB" sz="2800" dirty="0"/>
              <a:t>   capabilities and intellectual capabilities.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Short term differences such as fatigue, stress and some that change over time e.g. 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392921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6778"/>
            <a:ext cx="8676456" cy="1069514"/>
          </a:xfrm>
        </p:spPr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467544" y="1196752"/>
            <a:ext cx="8229600" cy="511256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In general, design principles and guidelines can be </a:t>
            </a:r>
          </a:p>
          <a:p>
            <a:r>
              <a:rPr lang="en-GB" sz="2400" dirty="0"/>
              <a:t>   and have been derived from the theories we have </a:t>
            </a:r>
          </a:p>
          <a:p>
            <a:r>
              <a:rPr lang="en-GB" sz="2400" dirty="0"/>
              <a:t>   discussed.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Psychological theory has led to the development of analytic and predictive models of user behaviour.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Some of these include a specific model of human </a:t>
            </a:r>
          </a:p>
          <a:p>
            <a:r>
              <a:rPr lang="en-GB" sz="2400" dirty="0"/>
              <a:t>   problem solving, others of physical activity, and </a:t>
            </a:r>
          </a:p>
          <a:p>
            <a:r>
              <a:rPr lang="en-GB" sz="2400" dirty="0"/>
              <a:t>   others attempt a more comprehensive view of </a:t>
            </a:r>
          </a:p>
          <a:p>
            <a:r>
              <a:rPr lang="en-GB" sz="2400" dirty="0"/>
              <a:t>    cognition </a:t>
            </a:r>
            <a:r>
              <a:rPr lang="en-GB" sz="2400" dirty="0" err="1"/>
              <a:t>etc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Psychology also provides a range of empirical </a:t>
            </a:r>
          </a:p>
          <a:p>
            <a:r>
              <a:rPr lang="en-GB" sz="2400" dirty="0"/>
              <a:t>   techniques which we can employ to evaluate our </a:t>
            </a:r>
          </a:p>
          <a:p>
            <a:r>
              <a:rPr lang="en-GB" sz="2400" dirty="0"/>
              <a:t>   designs and our systems.</a:t>
            </a:r>
          </a:p>
        </p:txBody>
      </p:sp>
    </p:spTree>
    <p:extLst>
      <p:ext uri="{BB962C8B-B14F-4D97-AF65-F5344CB8AC3E}">
        <p14:creationId xmlns:p14="http://schemas.microsoft.com/office/powerpoint/2010/main" val="39797086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1547664" y="2728943"/>
            <a:ext cx="381642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THE END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0" y="6597932"/>
            <a:ext cx="914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ALLPPT.com _ Free PowerPoint Templates, Diagrams and Charts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005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2503</TotalTime>
  <Words>2331</Words>
  <Application>Microsoft Office PowerPoint</Application>
  <PresentationFormat>On-screen Show (4:3)</PresentationFormat>
  <Paragraphs>460</Paragraphs>
  <Slides>48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맑은 고딕</vt:lpstr>
      <vt:lpstr>Arial</vt:lpstr>
      <vt:lpstr>Calibri</vt:lpstr>
      <vt:lpstr>Wingdings</vt:lpstr>
      <vt:lpstr>Office Theme</vt:lpstr>
      <vt:lpstr>Custom Design</vt:lpstr>
      <vt:lpstr>PowerPoint Presentation</vt:lpstr>
      <vt:lpstr>Introduction</vt:lpstr>
      <vt:lpstr>Cognitive psychology</vt:lpstr>
      <vt:lpstr>          Cognitive psychology….</vt:lpstr>
      <vt:lpstr>Model Human Processor</vt:lpstr>
      <vt:lpstr>Human as an information processing system</vt:lpstr>
      <vt:lpstr>Components of HIPS</vt:lpstr>
      <vt:lpstr>Components of HIPS</vt:lpstr>
      <vt:lpstr>Input-output channels</vt:lpstr>
      <vt:lpstr>Vision</vt:lpstr>
      <vt:lpstr>Human eyes</vt:lpstr>
      <vt:lpstr>Reading</vt:lpstr>
      <vt:lpstr>Hearing </vt:lpstr>
      <vt:lpstr> Hearing processing  </vt:lpstr>
      <vt:lpstr>Touch</vt:lpstr>
      <vt:lpstr>Movement</vt:lpstr>
      <vt:lpstr>Movement-example</vt:lpstr>
      <vt:lpstr>Movement and reaction time</vt:lpstr>
      <vt:lpstr>Movement and reaction time</vt:lpstr>
      <vt:lpstr>Human memory</vt:lpstr>
      <vt:lpstr>Human memory</vt:lpstr>
      <vt:lpstr>Sensory memory</vt:lpstr>
      <vt:lpstr>Sensory memory</vt:lpstr>
      <vt:lpstr>Short-term memory</vt:lpstr>
      <vt:lpstr>Example </vt:lpstr>
      <vt:lpstr>STM</vt:lpstr>
      <vt:lpstr>       Long-term memory</vt:lpstr>
      <vt:lpstr>Long-term memory structure</vt:lpstr>
      <vt:lpstr>Long-term memory processes</vt:lpstr>
      <vt:lpstr>Long-term memory processes</vt:lpstr>
      <vt:lpstr>Long-term memory processes</vt:lpstr>
      <vt:lpstr>Interference </vt:lpstr>
      <vt:lpstr>Do we really forget?</vt:lpstr>
      <vt:lpstr>Information retrieval</vt:lpstr>
      <vt:lpstr>Reasoning and problem solving</vt:lpstr>
      <vt:lpstr>Reasoning</vt:lpstr>
      <vt:lpstr>Reasoning…</vt:lpstr>
      <vt:lpstr>Problem solving</vt:lpstr>
      <vt:lpstr>Gestalt theory </vt:lpstr>
      <vt:lpstr>Problem space theory</vt:lpstr>
      <vt:lpstr>Analogy</vt:lpstr>
      <vt:lpstr>Skill acquisition </vt:lpstr>
      <vt:lpstr>Errors and mental models</vt:lpstr>
      <vt:lpstr>Emotion</vt:lpstr>
      <vt:lpstr>Emotion…</vt:lpstr>
      <vt:lpstr>Individual differences </vt:lpstr>
      <vt:lpstr>Conclusion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jane kuria</cp:lastModifiedBy>
  <cp:revision>84</cp:revision>
  <dcterms:created xsi:type="dcterms:W3CDTF">2014-04-01T16:35:38Z</dcterms:created>
  <dcterms:modified xsi:type="dcterms:W3CDTF">2023-05-25T13:01:48Z</dcterms:modified>
</cp:coreProperties>
</file>